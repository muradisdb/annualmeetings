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1233720"/>
            <a:ext cx="770096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SYSTEM_INIT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21519" y="1573048"/>
            <a:ext cx="6429375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IsDB Annual Meetings Hospitality System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721519" y="2761757"/>
            <a:ext cx="7700963" cy="28002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Director Technical Briefing &amp; Architecture Review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21519" y="3613286"/>
            <a:ext cx="1394817" cy="296466"/>
          </a:xfrm>
          <a:prstGeom prst="rect">
            <a:avLst/>
          </a:prstGeom>
          <a:solidFill>
            <a:srgbClr val="30363D">
              <a:alpha val="5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1519" y="3613286"/>
            <a:ext cx="1394817" cy="296466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ENV: PRODUCTION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387798" y="3613286"/>
            <a:ext cx="1010841" cy="296466"/>
          </a:xfrm>
          <a:prstGeom prst="rect">
            <a:avLst/>
          </a:prstGeom>
          <a:solidFill>
            <a:srgbClr val="30363D">
              <a:alpha val="5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87798" y="3613286"/>
            <a:ext cx="1010841" cy="296466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VER: 4.1.0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70102" y="3613286"/>
            <a:ext cx="1318022" cy="296466"/>
          </a:xfrm>
          <a:prstGeom prst="rect">
            <a:avLst/>
          </a:prstGeom>
          <a:solidFill>
            <a:srgbClr val="30363D">
              <a:alpha val="5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70102" y="3613286"/>
            <a:ext cx="1318022" cy="296466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STATUS: STABLE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35769"/>
            <a:ext cx="245030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Architecture Overview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615238" y="576858"/>
            <a:ext cx="9501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SEC_01 // ARCH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78644" y="1019770"/>
            <a:ext cx="64293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follows a 4-layer Clean Architecture pattern within a monolithic .NET 8 Web API, separating concerns to maintain testability and independence from external frameworks.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1357313" y="1616273"/>
            <a:ext cx="6429375" cy="517922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357313" y="1616273"/>
            <a:ext cx="6429375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Shape 5"/>
          <p:cNvSpPr/>
          <p:nvPr/>
        </p:nvSpPr>
        <p:spPr>
          <a:xfrm>
            <a:off x="7779544" y="1616273"/>
            <a:ext cx="7144" cy="51792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Shape 6"/>
          <p:cNvSpPr/>
          <p:nvPr/>
        </p:nvSpPr>
        <p:spPr>
          <a:xfrm>
            <a:off x="1357313" y="2127052"/>
            <a:ext cx="6429375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0" name="Shape 7"/>
          <p:cNvSpPr/>
          <p:nvPr/>
        </p:nvSpPr>
        <p:spPr>
          <a:xfrm>
            <a:off x="1357313" y="1616273"/>
            <a:ext cx="28575" cy="517922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11" name="Text 8"/>
          <p:cNvSpPr/>
          <p:nvPr/>
        </p:nvSpPr>
        <p:spPr>
          <a:xfrm>
            <a:off x="1585913" y="1759148"/>
            <a:ext cx="21431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29038" y="1793081"/>
            <a:ext cx="38290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REST Controllers, SignalR Hubs, Auth Middleware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357313" y="2177058"/>
            <a:ext cx="6429375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036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357313" y="2432447"/>
            <a:ext cx="6429375" cy="517922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357313" y="2432447"/>
            <a:ext cx="6429375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9544" y="2432447"/>
            <a:ext cx="7144" cy="51792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Shape 14"/>
          <p:cNvSpPr/>
          <p:nvPr/>
        </p:nvSpPr>
        <p:spPr>
          <a:xfrm>
            <a:off x="1357313" y="2943225"/>
            <a:ext cx="6429375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8" name="Shape 15"/>
          <p:cNvSpPr/>
          <p:nvPr/>
        </p:nvSpPr>
        <p:spPr>
          <a:xfrm>
            <a:off x="1357313" y="2432447"/>
            <a:ext cx="28575" cy="517922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19" name="Text 16"/>
          <p:cNvSpPr/>
          <p:nvPr/>
        </p:nvSpPr>
        <p:spPr>
          <a:xfrm>
            <a:off x="1585913" y="2575322"/>
            <a:ext cx="21431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Application Layer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29038" y="2609255"/>
            <a:ext cx="38290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DTOs, Mapping, Background Sync Services, Commands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357313" y="2993231"/>
            <a:ext cx="6429375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036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357313" y="3248620"/>
            <a:ext cx="6429375" cy="517922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57313" y="3248620"/>
            <a:ext cx="6429375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9544" y="3248620"/>
            <a:ext cx="7144" cy="51792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5" name="Shape 22"/>
          <p:cNvSpPr/>
          <p:nvPr/>
        </p:nvSpPr>
        <p:spPr>
          <a:xfrm>
            <a:off x="1357313" y="3759398"/>
            <a:ext cx="6429375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6" name="Shape 23"/>
          <p:cNvSpPr/>
          <p:nvPr/>
        </p:nvSpPr>
        <p:spPr>
          <a:xfrm>
            <a:off x="1357313" y="3248620"/>
            <a:ext cx="28575" cy="517922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27" name="Text 24"/>
          <p:cNvSpPr/>
          <p:nvPr/>
        </p:nvSpPr>
        <p:spPr>
          <a:xfrm>
            <a:off x="1585913" y="3391495"/>
            <a:ext cx="21431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Infrastructure Layer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729038" y="3425428"/>
            <a:ext cx="38290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EF Core DbContext, Repositories, External API Clients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357313" y="3809405"/>
            <a:ext cx="6429375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036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1357313" y="4064794"/>
            <a:ext cx="6429375" cy="517922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1357313" y="4064794"/>
            <a:ext cx="6429375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2" name="Shape 29"/>
          <p:cNvSpPr/>
          <p:nvPr/>
        </p:nvSpPr>
        <p:spPr>
          <a:xfrm>
            <a:off x="7779544" y="4064794"/>
            <a:ext cx="7144" cy="51792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3" name="Shape 30"/>
          <p:cNvSpPr/>
          <p:nvPr/>
        </p:nvSpPr>
        <p:spPr>
          <a:xfrm>
            <a:off x="1357313" y="4575572"/>
            <a:ext cx="6429375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4" name="Shape 31"/>
          <p:cNvSpPr/>
          <p:nvPr/>
        </p:nvSpPr>
        <p:spPr>
          <a:xfrm>
            <a:off x="1357313" y="4064794"/>
            <a:ext cx="28575" cy="517922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35" name="Text 32"/>
          <p:cNvSpPr/>
          <p:nvPr/>
        </p:nvSpPr>
        <p:spPr>
          <a:xfrm>
            <a:off x="1585913" y="4207669"/>
            <a:ext cx="21431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Core / Domain Layer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729038" y="4241602"/>
            <a:ext cx="38290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Entities (Guest, Vehicle), Enums, Core Interfaces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35769"/>
            <a:ext cx="1982391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547372" y="576858"/>
            <a:ext cx="10179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SEC_02 // STACK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78644" y="1134070"/>
            <a:ext cx="3850481" cy="1759148"/>
          </a:xfrm>
          <a:prstGeom prst="rect">
            <a:avLst/>
          </a:prstGeom>
          <a:solidFill>
            <a:srgbClr val="0D1117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8644" y="1134070"/>
            <a:ext cx="28575" cy="1744861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7" name="Text 4"/>
          <p:cNvSpPr/>
          <p:nvPr/>
        </p:nvSpPr>
        <p:spPr>
          <a:xfrm>
            <a:off x="807244" y="1362670"/>
            <a:ext cx="339328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FRONTEND_BUNDLE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7244" y="1721644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 &amp; TypeScript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7244" y="1975247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TailwindCSS for Utility-first Styling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07244" y="2228850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Zustand for State Management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07244" y="2482453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Build Tooling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14875" y="1134070"/>
            <a:ext cx="3850481" cy="1759148"/>
          </a:xfrm>
          <a:prstGeom prst="rect">
            <a:avLst/>
          </a:prstGeom>
          <a:solidFill>
            <a:srgbClr val="0D1117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14875" y="1134070"/>
            <a:ext cx="28575" cy="1744861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14" name="Text 11"/>
          <p:cNvSpPr/>
          <p:nvPr/>
        </p:nvSpPr>
        <p:spPr>
          <a:xfrm>
            <a:off x="4943475" y="1362670"/>
            <a:ext cx="339328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BACKEND_API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43475" y="1721644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.NET 8.0 (C# 12)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43475" y="1975247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ASP.NET Core Web API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943475" y="2228850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Framework Core 8.0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943475" y="2482453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SignalR for Real-time WebSockets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78644" y="3164681"/>
            <a:ext cx="3850481" cy="1505545"/>
          </a:xfrm>
          <a:prstGeom prst="rect">
            <a:avLst/>
          </a:prstGeom>
          <a:solidFill>
            <a:srgbClr val="0D1117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8644" y="3164681"/>
            <a:ext cx="28575" cy="1491258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21" name="Text 18"/>
          <p:cNvSpPr/>
          <p:nvPr/>
        </p:nvSpPr>
        <p:spPr>
          <a:xfrm>
            <a:off x="807244" y="3393281"/>
            <a:ext cx="339328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DATA_STORE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07244" y="3752255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16 (Relational Engine)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07244" y="4005858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Railway Managed Database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07244" y="4259461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 Core Code-First Migrations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714875" y="3164681"/>
            <a:ext cx="3850481" cy="1505545"/>
          </a:xfrm>
          <a:prstGeom prst="rect">
            <a:avLst/>
          </a:prstGeom>
          <a:solidFill>
            <a:srgbClr val="0D1117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14875" y="3164681"/>
            <a:ext cx="28575" cy="1491258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27" name="Text 24"/>
          <p:cNvSpPr/>
          <p:nvPr/>
        </p:nvSpPr>
        <p:spPr>
          <a:xfrm>
            <a:off x="4943475" y="3393281"/>
            <a:ext cx="339328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943475" y="3752255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Containerization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943475" y="4005858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Railway (PaaS) Deployment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943475" y="4259461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 (CI/CD Pipeline)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35769"/>
            <a:ext cx="2498527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Integration Landscape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140178" y="576858"/>
            <a:ext cx="142517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SEC_03 // INTEGRATION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78644" y="1134070"/>
            <a:ext cx="3850481" cy="3345061"/>
          </a:xfrm>
          <a:prstGeom prst="rect">
            <a:avLst/>
          </a:prstGeom>
          <a:solidFill>
            <a:srgbClr val="0D1117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8644" y="1134070"/>
            <a:ext cx="3836194" cy="28575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7" name="Text 4"/>
          <p:cNvSpPr/>
          <p:nvPr/>
        </p:nvSpPr>
        <p:spPr>
          <a:xfrm>
            <a:off x="807244" y="1362670"/>
            <a:ext cx="125730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EventsAir 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07606" y="1389459"/>
            <a:ext cx="492919" cy="20181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ACTIVE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807244" y="1789509"/>
            <a:ext cx="1187648" cy="382191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PROTOCOL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994892" y="1789509"/>
            <a:ext cx="2205633" cy="382191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(JSON)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07244" y="2171700"/>
            <a:ext cx="1187648" cy="523280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AUTH_METHOD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94892" y="2289572"/>
            <a:ext cx="139660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OAuth2 Client Credentials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994892" y="2427089"/>
            <a:ext cx="8143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Bearer Token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07244" y="2694980"/>
            <a:ext cx="1187648" cy="523280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SYNC_STRATEGY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994892" y="2812852"/>
            <a:ext cx="145553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BackgroundService Polling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994892" y="2950369"/>
            <a:ext cx="11537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Interval: 15 mins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07244" y="3218259"/>
            <a:ext cx="1187648" cy="510778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DATA_PAYLOAD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994892" y="3218259"/>
            <a:ext cx="2205633" cy="510778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Profiles, Travel Bookings, Hotel Allocations, Cancellations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07244" y="3729038"/>
            <a:ext cx="1187648" cy="507206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ERROR_HANDLING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994892" y="3729038"/>
            <a:ext cx="2205633" cy="507206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Polly Retry Policies, Circuit Breaker, SystemLog Alerting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714875" y="1134070"/>
            <a:ext cx="3850481" cy="3345061"/>
          </a:xfrm>
          <a:prstGeom prst="rect">
            <a:avLst/>
          </a:prstGeom>
          <a:solidFill>
            <a:srgbClr val="0D1117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14875" y="1134070"/>
            <a:ext cx="3836194" cy="28575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23" name="Text 20"/>
          <p:cNvSpPr/>
          <p:nvPr/>
        </p:nvSpPr>
        <p:spPr>
          <a:xfrm>
            <a:off x="4943475" y="1362670"/>
            <a:ext cx="167699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Aviationstack API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843838" y="1389459"/>
            <a:ext cx="492919" cy="20181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ACTIVE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943475" y="1789509"/>
            <a:ext cx="1187648" cy="382191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PROTOCOL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31123" y="1789509"/>
            <a:ext cx="2205633" cy="382191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(JSON)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943475" y="2171700"/>
            <a:ext cx="1187648" cy="523280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AUTH_METHOD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131123" y="2289572"/>
            <a:ext cx="4143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131123" y="2427089"/>
            <a:ext cx="10179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Query Parameter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943475" y="2694980"/>
            <a:ext cx="1187648" cy="523280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SYNC_STRATEGY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131123" y="2812852"/>
            <a:ext cx="138588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FlightTrackerSyncService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131123" y="2950369"/>
            <a:ext cx="11537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Interval: 10 mins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943475" y="3218259"/>
            <a:ext cx="1187648" cy="510778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DATA_PAYLOAD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31123" y="3218259"/>
            <a:ext cx="2205633" cy="510778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Flight Status, Delays, Estimated Time of Arrival (ETA)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943475" y="3729038"/>
            <a:ext cx="1187648" cy="507206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ERROR_HANDLING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131123" y="3729038"/>
            <a:ext cx="2205633" cy="507206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Graceful degradation (retains last known ETA), Rate limit monitoring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35769"/>
            <a:ext cx="285928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Security &amp; Authentication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43775" y="576858"/>
            <a:ext cx="12215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SEC_04 // SEC_AUTH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64381" y="1134070"/>
            <a:ext cx="434909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AUTH_TOKEN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64381" y="1341239"/>
            <a:ext cx="43490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Stateless JWT (JSON Web Tokens) with 8-hour expiration.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64381" y="1762720"/>
            <a:ext cx="434909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PWD_HASH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64381" y="1969889"/>
            <a:ext cx="43490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 hashing algorithm with work factor 11.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64381" y="2391370"/>
            <a:ext cx="434909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ACCESS_CTRL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64381" y="2598539"/>
            <a:ext cx="43490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Control (RBAC) enforced at the controller level.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4381" y="2848570"/>
            <a:ext cx="4349093" cy="201811"/>
          </a:xfrm>
          <a:prstGeom prst="rect">
            <a:avLst/>
          </a:prstGeom>
          <a:solidFill>
            <a:srgbClr val="30363D">
              <a:alpha val="5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4381" y="2848570"/>
            <a:ext cx="4349093" cy="20181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[Authorize(Roles = "Admin, Transport")]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64381" y="3264694"/>
            <a:ext cx="434909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SESSION_MGT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64381" y="3471863"/>
            <a:ext cx="434909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ActiveUserFilter middleware ensures deactivated users are immediately blocked, despite valid JWTs.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42099" y="1134070"/>
            <a:ext cx="3023257" cy="3087021"/>
          </a:xfrm>
          <a:prstGeom prst="rect">
            <a:avLst/>
          </a:prstGeom>
          <a:solidFill>
            <a:srgbClr val="FFB000">
              <a:alpha val="5000"/>
            </a:srgbClr>
          </a:solidFill>
          <a:ln w="9144">
            <a:solidFill>
              <a:srgbClr val="FFB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70699" y="1362670"/>
            <a:ext cx="2566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SECURITY_POSTURE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70699" y="1705570"/>
            <a:ext cx="2566057" cy="164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maintains a strong baseline for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and authorization. However, </a:t>
            </a:r>
            <a:r>
              <a:rPr lang="en-US" sz="8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secrets management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requires immediate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attention.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Currently, the EventsAir ClientSecret and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Aviationstack API Key are stored in the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and environment variables without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encryption.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70699" y="3465640"/>
            <a:ext cx="2566057" cy="512564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B0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ACTION_REQ: Implement column-level encryption or migrate to a dedicated Secrets Manager.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35769"/>
            <a:ext cx="233243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Background Services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411641" y="576858"/>
            <a:ext cx="11537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SEC_04 // WORKERS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78644" y="1076920"/>
            <a:ext cx="6429375" cy="32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relies on three </a:t>
            </a:r>
            <a:r>
              <a:rPr lang="en-US" sz="9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IHostedService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background workers to maintain data synchronization, real-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tracking, and database health.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8644" y="1685925"/>
            <a:ext cx="2509828" cy="2453097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8644" y="1685925"/>
            <a:ext cx="2509828" cy="28575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8" name="Shape 5"/>
          <p:cNvSpPr/>
          <p:nvPr/>
        </p:nvSpPr>
        <p:spPr>
          <a:xfrm>
            <a:off x="3081328" y="1685925"/>
            <a:ext cx="7144" cy="2453097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Shape 6"/>
          <p:cNvSpPr/>
          <p:nvPr/>
        </p:nvSpPr>
        <p:spPr>
          <a:xfrm>
            <a:off x="578644" y="4131878"/>
            <a:ext cx="2509828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0" name="Shape 7"/>
          <p:cNvSpPr/>
          <p:nvPr/>
        </p:nvSpPr>
        <p:spPr>
          <a:xfrm>
            <a:off x="578644" y="1685925"/>
            <a:ext cx="7144" cy="2453097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8"/>
          <p:cNvSpPr/>
          <p:nvPr/>
        </p:nvSpPr>
        <p:spPr>
          <a:xfrm>
            <a:off x="750094" y="1857375"/>
            <a:ext cx="1535906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EventsAirSyncService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91969" y="1857375"/>
            <a:ext cx="425053" cy="16966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0"/>
          <p:cNvSpPr/>
          <p:nvPr/>
        </p:nvSpPr>
        <p:spPr>
          <a:xfrm>
            <a:off x="2491969" y="1857375"/>
            <a:ext cx="425053" cy="16966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15 MIN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50094" y="2141339"/>
            <a:ext cx="2166928" cy="71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Synchronizes guest profiles, travel bookings, and hotel allocations from the EventsAir API.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50094" y="3150394"/>
            <a:ext cx="216692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Pass 1: Upsert Guest Profiles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50094" y="3376120"/>
            <a:ext cx="216692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Pass 2: Deactivate Cancelled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50094" y="3601845"/>
            <a:ext cx="216692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Pass 3: Sync Travel Bookings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50094" y="3827571"/>
            <a:ext cx="216692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Pass 4: Car Class Mismatch Alerts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3317072" y="1685925"/>
            <a:ext cx="2509828" cy="2453097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3317072" y="1685925"/>
            <a:ext cx="2509828" cy="28575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21" name="Shape 18"/>
          <p:cNvSpPr/>
          <p:nvPr/>
        </p:nvSpPr>
        <p:spPr>
          <a:xfrm>
            <a:off x="5819756" y="1685925"/>
            <a:ext cx="7144" cy="2453097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Shape 19"/>
          <p:cNvSpPr/>
          <p:nvPr/>
        </p:nvSpPr>
        <p:spPr>
          <a:xfrm>
            <a:off x="3317072" y="4131878"/>
            <a:ext cx="2509828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3" name="Shape 20"/>
          <p:cNvSpPr/>
          <p:nvPr/>
        </p:nvSpPr>
        <p:spPr>
          <a:xfrm>
            <a:off x="3317072" y="1685925"/>
            <a:ext cx="7144" cy="2453097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Text 21"/>
          <p:cNvSpPr/>
          <p:nvPr/>
        </p:nvSpPr>
        <p:spPr>
          <a:xfrm>
            <a:off x="3488522" y="1857375"/>
            <a:ext cx="1627575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FlightTrackerSyncService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230397" y="1857375"/>
            <a:ext cx="425053" cy="16966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6" name="Text 23"/>
          <p:cNvSpPr/>
          <p:nvPr/>
        </p:nvSpPr>
        <p:spPr>
          <a:xfrm>
            <a:off x="5230397" y="1857375"/>
            <a:ext cx="425053" cy="16966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10 MIN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3488522" y="2307431"/>
            <a:ext cx="21669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Polls the Aviationstack API for real-time flight statuses and estimated arrival times.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488522" y="3114675"/>
            <a:ext cx="216692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Fetch active flight numbers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488522" y="3340401"/>
            <a:ext cx="216692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Update ETAs &amp; Statuses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488522" y="3566127"/>
            <a:ext cx="216692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Broadcast via SignalR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3488522" y="3791852"/>
            <a:ext cx="216692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Auto-resolve flight alerts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055500" y="1685925"/>
            <a:ext cx="2509856" cy="2417378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055500" y="1685925"/>
            <a:ext cx="2509856" cy="28575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34" name="Shape 31"/>
          <p:cNvSpPr/>
          <p:nvPr/>
        </p:nvSpPr>
        <p:spPr>
          <a:xfrm>
            <a:off x="8558213" y="1685925"/>
            <a:ext cx="7144" cy="241737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5" name="Shape 32"/>
          <p:cNvSpPr/>
          <p:nvPr/>
        </p:nvSpPr>
        <p:spPr>
          <a:xfrm>
            <a:off x="6055500" y="4096159"/>
            <a:ext cx="2509856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6" name="Shape 33"/>
          <p:cNvSpPr/>
          <p:nvPr/>
        </p:nvSpPr>
        <p:spPr>
          <a:xfrm>
            <a:off x="6055500" y="1685925"/>
            <a:ext cx="7144" cy="241737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7" name="Text 34"/>
          <p:cNvSpPr/>
          <p:nvPr/>
        </p:nvSpPr>
        <p:spPr>
          <a:xfrm>
            <a:off x="6226950" y="1857375"/>
            <a:ext cx="145911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LogRetentionService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8020645" y="1857375"/>
            <a:ext cx="373261" cy="16966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9" name="Text 36"/>
          <p:cNvSpPr/>
          <p:nvPr/>
        </p:nvSpPr>
        <p:spPr>
          <a:xfrm>
            <a:off x="8020645" y="1857375"/>
            <a:ext cx="373261" cy="16966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24 HR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6226950" y="2141339"/>
            <a:ext cx="2166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Maintains database health by purging stale operational logs and preventing storage bloat.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226950" y="3114675"/>
            <a:ext cx="216695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Query SystemLogs table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6226950" y="3340401"/>
            <a:ext cx="216695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Delete records &gt; 30 days old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6226950" y="3566127"/>
            <a:ext cx="216695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Reclaim database space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6226950" y="3791852"/>
            <a:ext cx="216695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Log cleanup summary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35769"/>
            <a:ext cx="3262908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Technical Debt &amp; Known Risks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547372" y="576858"/>
            <a:ext cx="10179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SEC_06 // RISKS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78644" y="1019770"/>
            <a:ext cx="7986713" cy="1019770"/>
          </a:xfrm>
          <a:prstGeom prst="rect">
            <a:avLst/>
          </a:prstGeom>
          <a:solidFill>
            <a:srgbClr val="0D1117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8644" y="1019770"/>
            <a:ext cx="28575" cy="1005483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7" name="Shape 4"/>
          <p:cNvSpPr/>
          <p:nvPr/>
        </p:nvSpPr>
        <p:spPr>
          <a:xfrm>
            <a:off x="807244" y="1105495"/>
            <a:ext cx="714375" cy="201811"/>
          </a:xfrm>
          <a:prstGeom prst="rect">
            <a:avLst/>
          </a:prstGeom>
          <a:solidFill>
            <a:srgbClr val="FF3366">
              <a:alpha val="10000"/>
            </a:srgbClr>
          </a:solidFill>
          <a:ln w="9144">
            <a:solidFill>
              <a:srgbClr val="FF33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7244" y="1105495"/>
            <a:ext cx="714375" cy="20181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3366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CRITICAL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664494" y="1105495"/>
            <a:ext cx="667226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Plain-Text Secrets in Database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64494" y="1380530"/>
            <a:ext cx="6672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EventsAir ClientSecret and Aviationstack ApiKey are currently stored unencrypted in the AppConfig table, presenting a significant security vulnerability.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664494" y="1809155"/>
            <a:ext cx="6672263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Implement column-level encryption or migrate to a dedicated secrets manager (e.g., Azure Key Vault).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78644" y="2110978"/>
            <a:ext cx="7986713" cy="1019770"/>
          </a:xfrm>
          <a:prstGeom prst="rect">
            <a:avLst/>
          </a:prstGeom>
          <a:solidFill>
            <a:srgbClr val="0D1117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8644" y="2110978"/>
            <a:ext cx="28575" cy="1005483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Shape 11"/>
          <p:cNvSpPr/>
          <p:nvPr/>
        </p:nvSpPr>
        <p:spPr>
          <a:xfrm>
            <a:off x="807244" y="2196703"/>
            <a:ext cx="714375" cy="201811"/>
          </a:xfrm>
          <a:prstGeom prst="rect">
            <a:avLst/>
          </a:prstGeom>
          <a:solidFill>
            <a:srgbClr val="FF9900">
              <a:alpha val="10000"/>
            </a:srgbClr>
          </a:solidFill>
          <a:ln w="9144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7244" y="2196703"/>
            <a:ext cx="714375" cy="20181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664494" y="2196703"/>
            <a:ext cx="667226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EventsAirSyncService Complexity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664494" y="2471738"/>
            <a:ext cx="6672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synchronization service is a 619-line monolithic class that violates the Single Responsibility Principle, making it fragile and difficult to test.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664494" y="2900363"/>
            <a:ext cx="6672263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Refactor into a pipeline or saga pattern with discrete, testable handlers for each sync pass.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78644" y="3202186"/>
            <a:ext cx="7986713" cy="1019770"/>
          </a:xfrm>
          <a:prstGeom prst="rect">
            <a:avLst/>
          </a:prstGeom>
          <a:solidFill>
            <a:srgbClr val="0D1117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8644" y="3202186"/>
            <a:ext cx="28575" cy="1005483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Shape 18"/>
          <p:cNvSpPr/>
          <p:nvPr/>
        </p:nvSpPr>
        <p:spPr>
          <a:xfrm>
            <a:off x="807244" y="3287911"/>
            <a:ext cx="714375" cy="201811"/>
          </a:xfrm>
          <a:prstGeom prst="rect">
            <a:avLst/>
          </a:prstGeom>
          <a:solidFill>
            <a:srgbClr val="FF9900">
              <a:alpha val="10000"/>
            </a:srgbClr>
          </a:solidFill>
          <a:ln w="9144">
            <a:solidFill>
              <a:srgbClr val="FF99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7244" y="3287911"/>
            <a:ext cx="714375" cy="20181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HIGH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664494" y="3287911"/>
            <a:ext cx="667226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In-Memory Caching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664494" y="3562945"/>
            <a:ext cx="6672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relies on IMemoryCache for session and configuration data, which strictly prevents horizontal scaling across multiple instances.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664494" y="3991570"/>
            <a:ext cx="6672263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Replace IMemoryCache with a distributed Redis cache implementation.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35769"/>
            <a:ext cx="173414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Scalability Path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547372" y="576858"/>
            <a:ext cx="10179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SEC_07 // SCALE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78644" y="1134070"/>
            <a:ext cx="7143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current architecture is bound to a single instance due to in-memory state management and monolithic background workers. To achieve horizontal scalability and high availability, the following architectural shifts are required.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8644" y="2179848"/>
            <a:ext cx="2509828" cy="2415592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8644" y="2179848"/>
            <a:ext cx="2509828" cy="28575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8" name="Shape 5"/>
          <p:cNvSpPr/>
          <p:nvPr/>
        </p:nvSpPr>
        <p:spPr>
          <a:xfrm>
            <a:off x="3081328" y="2179848"/>
            <a:ext cx="7144" cy="241559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Shape 6"/>
          <p:cNvSpPr/>
          <p:nvPr/>
        </p:nvSpPr>
        <p:spPr>
          <a:xfrm>
            <a:off x="578644" y="4588297"/>
            <a:ext cx="2509828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0" name="Shape 7"/>
          <p:cNvSpPr/>
          <p:nvPr/>
        </p:nvSpPr>
        <p:spPr>
          <a:xfrm>
            <a:off x="578644" y="2179848"/>
            <a:ext cx="7144" cy="241559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8"/>
          <p:cNvSpPr/>
          <p:nvPr/>
        </p:nvSpPr>
        <p:spPr>
          <a:xfrm>
            <a:off x="750094" y="2408448"/>
            <a:ext cx="215741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PHASE_01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50094" y="2672767"/>
            <a:ext cx="21574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Distributed Caching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0094" y="3215692"/>
            <a:ext cx="2157413" cy="767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IMemoryCache with a distributed cache to share application state, session data, and rate-limiting counters across multiple instances.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50094" y="4154314"/>
            <a:ext cx="1089422" cy="212527"/>
          </a:xfrm>
          <a:prstGeom prst="rect">
            <a:avLst/>
          </a:prstGeom>
          <a:solidFill>
            <a:srgbClr val="00FFCC">
              <a:alpha val="10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0094" y="4154314"/>
            <a:ext cx="1089422" cy="212527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REQUIREMENT: REDIS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067013" y="3257243"/>
            <a:ext cx="20716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0363D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&gt;&gt;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07556" y="2179848"/>
            <a:ext cx="2514600" cy="2415592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307556" y="2179848"/>
            <a:ext cx="2514600" cy="28575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19" name="Shape 16"/>
          <p:cNvSpPr/>
          <p:nvPr/>
        </p:nvSpPr>
        <p:spPr>
          <a:xfrm>
            <a:off x="5815013" y="2179848"/>
            <a:ext cx="7144" cy="241559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Shape 17"/>
          <p:cNvSpPr/>
          <p:nvPr/>
        </p:nvSpPr>
        <p:spPr>
          <a:xfrm>
            <a:off x="3307556" y="4588297"/>
            <a:ext cx="251460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Shape 18"/>
          <p:cNvSpPr/>
          <p:nvPr/>
        </p:nvSpPr>
        <p:spPr>
          <a:xfrm>
            <a:off x="3307556" y="2179848"/>
            <a:ext cx="7144" cy="241559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Text 19"/>
          <p:cNvSpPr/>
          <p:nvPr/>
        </p:nvSpPr>
        <p:spPr>
          <a:xfrm>
            <a:off x="3483778" y="2408448"/>
            <a:ext cx="216218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PHASE_02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483778" y="2672767"/>
            <a:ext cx="216218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SignalR Backplane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483778" y="3215692"/>
            <a:ext cx="2162184" cy="767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 backplane for SignalR to ensure WebSocket messages (like live flight updates) reach clients connected to different server nodes.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483778" y="4154314"/>
            <a:ext cx="1503759" cy="212527"/>
          </a:xfrm>
          <a:prstGeom prst="rect">
            <a:avLst/>
          </a:prstGeom>
          <a:solidFill>
            <a:srgbClr val="00FFCC">
              <a:alpha val="10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83778" y="4154314"/>
            <a:ext cx="1503759" cy="21252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REQUIREMENT: REDIS PUB/SUB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5800697" y="3257243"/>
            <a:ext cx="20716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0363D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&gt;&gt;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46012" y="2179848"/>
            <a:ext cx="2519372" cy="2415592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046012" y="2179848"/>
            <a:ext cx="2519372" cy="28575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30" name="Shape 27"/>
          <p:cNvSpPr/>
          <p:nvPr/>
        </p:nvSpPr>
        <p:spPr>
          <a:xfrm>
            <a:off x="8558240" y="2179848"/>
            <a:ext cx="7144" cy="241559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1" name="Shape 28"/>
          <p:cNvSpPr/>
          <p:nvPr/>
        </p:nvSpPr>
        <p:spPr>
          <a:xfrm>
            <a:off x="6046012" y="4588297"/>
            <a:ext cx="2519372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2" name="Shape 29"/>
          <p:cNvSpPr/>
          <p:nvPr/>
        </p:nvSpPr>
        <p:spPr>
          <a:xfrm>
            <a:off x="6046012" y="2179848"/>
            <a:ext cx="7144" cy="241559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3" name="Text 30"/>
          <p:cNvSpPr/>
          <p:nvPr/>
        </p:nvSpPr>
        <p:spPr>
          <a:xfrm>
            <a:off x="6226950" y="2408448"/>
            <a:ext cx="216692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PHASE_03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226950" y="2672767"/>
            <a:ext cx="21669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Worker Decoupling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26950" y="3215692"/>
            <a:ext cx="2166928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 EventsAirSyncService from full-table truncation to delta-based updates, and use distributed locks to prevent concurrent worker collisions.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226950" y="4118595"/>
            <a:ext cx="1866305" cy="212527"/>
          </a:xfrm>
          <a:prstGeom prst="rect">
            <a:avLst/>
          </a:prstGeom>
          <a:solidFill>
            <a:srgbClr val="00FFCC">
              <a:alpha val="10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26950" y="4118595"/>
            <a:ext cx="1866305" cy="21252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REQUIREMENT: REDLOCK / DELTA SYNC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70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35769"/>
            <a:ext cx="23717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Deployment Strategy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479506" y="576858"/>
            <a:ext cx="10858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SEC_08 // DEPLOY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78644" y="1134070"/>
            <a:ext cx="7143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utilizes a strict dual-environment deployment model managed via automated CI/CD pipelines, ensuring code is thoroughly validated before reaching the live event infrastructure.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8644" y="1831256"/>
            <a:ext cx="3850481" cy="2698552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8644" y="1831256"/>
            <a:ext cx="3850481" cy="28575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Shape 5"/>
          <p:cNvSpPr/>
          <p:nvPr/>
        </p:nvSpPr>
        <p:spPr>
          <a:xfrm>
            <a:off x="4421981" y="1831256"/>
            <a:ext cx="7144" cy="269855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Shape 6"/>
          <p:cNvSpPr/>
          <p:nvPr/>
        </p:nvSpPr>
        <p:spPr>
          <a:xfrm>
            <a:off x="578644" y="4522663"/>
            <a:ext cx="3850481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0" name="Shape 7"/>
          <p:cNvSpPr/>
          <p:nvPr/>
        </p:nvSpPr>
        <p:spPr>
          <a:xfrm>
            <a:off x="578644" y="1831256"/>
            <a:ext cx="7144" cy="269855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8"/>
          <p:cNvSpPr/>
          <p:nvPr/>
        </p:nvSpPr>
        <p:spPr>
          <a:xfrm>
            <a:off x="807244" y="2059856"/>
            <a:ext cx="6000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ENV_UAT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02248" y="2061642"/>
            <a:ext cx="491133" cy="18395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8A6FF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TESTING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807244" y="2418829"/>
            <a:ext cx="3386138" cy="371475"/>
          </a:xfrm>
          <a:prstGeom prst="rect">
            <a:avLst/>
          </a:prstGeom>
          <a:noFill/>
          <a:ln/>
        </p:spPr>
        <p:txBody>
          <a:bodyPr wrap="square" lIns="272161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Trigger: Push to </a:t>
            </a: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uat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branch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07244" y="2790304"/>
            <a:ext cx="3386138" cy="366117"/>
          </a:xfrm>
          <a:prstGeom prst="rect">
            <a:avLst/>
          </a:prstGeom>
          <a:noFill/>
          <a:ln/>
        </p:spPr>
        <p:txBody>
          <a:bodyPr wrap="square" lIns="272161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 Build &amp; Run Unit Tests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07244" y="3156421"/>
            <a:ext cx="3386138" cy="366117"/>
          </a:xfrm>
          <a:prstGeom prst="rect">
            <a:avLst/>
          </a:prstGeom>
          <a:noFill/>
          <a:ln/>
        </p:spPr>
        <p:txBody>
          <a:bodyPr wrap="square" lIns="272161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Deploy: Railway UAT Instance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07244" y="3693988"/>
            <a:ext cx="3386138" cy="571500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safe testing with live integrations. Connects to the EventsAir Sandbox and uses a separate UAT database to prevent data contamination.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707731" y="1831256"/>
            <a:ext cx="3857625" cy="2662833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707731" y="1831256"/>
            <a:ext cx="3857625" cy="28575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19" name="Shape 16"/>
          <p:cNvSpPr/>
          <p:nvPr/>
        </p:nvSpPr>
        <p:spPr>
          <a:xfrm>
            <a:off x="8558213" y="1831256"/>
            <a:ext cx="7144" cy="2662833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Shape 17"/>
          <p:cNvSpPr/>
          <p:nvPr/>
        </p:nvSpPr>
        <p:spPr>
          <a:xfrm>
            <a:off x="4707731" y="4486945"/>
            <a:ext cx="3857625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Shape 18"/>
          <p:cNvSpPr/>
          <p:nvPr/>
        </p:nvSpPr>
        <p:spPr>
          <a:xfrm>
            <a:off x="4707731" y="1831256"/>
            <a:ext cx="7144" cy="2662833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Shape 19"/>
          <p:cNvSpPr/>
          <p:nvPr/>
        </p:nvSpPr>
        <p:spPr>
          <a:xfrm>
            <a:off x="764381" y="2533129"/>
            <a:ext cx="67866" cy="150019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3" name="Text 20"/>
          <p:cNvSpPr/>
          <p:nvPr/>
        </p:nvSpPr>
        <p:spPr>
          <a:xfrm>
            <a:off x="764381" y="2533129"/>
            <a:ext cx="67866" cy="150019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&gt;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64381" y="2904604"/>
            <a:ext cx="67866" cy="150019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5" name="Text 22"/>
          <p:cNvSpPr/>
          <p:nvPr/>
        </p:nvSpPr>
        <p:spPr>
          <a:xfrm>
            <a:off x="764381" y="2904604"/>
            <a:ext cx="67866" cy="150019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&gt;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64381" y="3270721"/>
            <a:ext cx="67866" cy="150019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7" name="Text 24"/>
          <p:cNvSpPr/>
          <p:nvPr/>
        </p:nvSpPr>
        <p:spPr>
          <a:xfrm>
            <a:off x="764381" y="3270721"/>
            <a:ext cx="67866" cy="150019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&gt;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943475" y="2059856"/>
            <a:ext cx="12001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ENV_PRODUCTION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001000" y="2061642"/>
            <a:ext cx="335756" cy="183952"/>
          </a:xfrm>
          <a:prstGeom prst="rect">
            <a:avLst/>
          </a:prstGeom>
          <a:solidFill>
            <a:srgbClr val="00FFCC">
              <a:alpha val="10000"/>
            </a:srgbClr>
          </a:solidFill>
          <a:ln w="9144">
            <a:solidFill>
              <a:srgbClr val="00FF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01000" y="2061642"/>
            <a:ext cx="335756" cy="18395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LIVE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4943475" y="2418829"/>
            <a:ext cx="3393281" cy="371475"/>
          </a:xfrm>
          <a:prstGeom prst="rect">
            <a:avLst/>
          </a:prstGeom>
          <a:noFill/>
          <a:ln/>
        </p:spPr>
        <p:txBody>
          <a:bodyPr wrap="square" lIns="272161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Trigger: Merge to </a:t>
            </a: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master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Release Tag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943475" y="2790304"/>
            <a:ext cx="3393281" cy="366117"/>
          </a:xfrm>
          <a:prstGeom prst="rect">
            <a:avLst/>
          </a:prstGeom>
          <a:noFill/>
          <a:ln/>
        </p:spPr>
        <p:txBody>
          <a:bodyPr wrap="square" lIns="272161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 Build &amp; Run Unit Tests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943475" y="3156421"/>
            <a:ext cx="3393281" cy="366117"/>
          </a:xfrm>
          <a:prstGeom prst="rect">
            <a:avLst/>
          </a:prstGeom>
          <a:noFill/>
          <a:ln/>
        </p:spPr>
        <p:txBody>
          <a:bodyPr wrap="square" lIns="272161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Deploy: Railway Production Instance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943475" y="3844007"/>
            <a:ext cx="3393281" cy="421481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live operational environment. Connects to the production EventsAir API and the primary PostgreSQL database. Strict access controls apply.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578644" y="4779838"/>
            <a:ext cx="7986713" cy="464344"/>
          </a:xfrm>
          <a:prstGeom prst="rect">
            <a:avLst/>
          </a:prstGeom>
          <a:solidFill>
            <a:srgbClr val="0D1117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900613" y="2533129"/>
            <a:ext cx="67866" cy="150019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7" name="Text 34"/>
          <p:cNvSpPr/>
          <p:nvPr/>
        </p:nvSpPr>
        <p:spPr>
          <a:xfrm>
            <a:off x="4900613" y="2533129"/>
            <a:ext cx="67866" cy="150019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&gt;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900613" y="2904604"/>
            <a:ext cx="67866" cy="150019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9" name="Text 36"/>
          <p:cNvSpPr/>
          <p:nvPr/>
        </p:nvSpPr>
        <p:spPr>
          <a:xfrm>
            <a:off x="4900613" y="2904604"/>
            <a:ext cx="67866" cy="150019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&gt;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900613" y="3270721"/>
            <a:ext cx="67866" cy="150019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1" name="Text 38"/>
          <p:cNvSpPr/>
          <p:nvPr/>
        </p:nvSpPr>
        <p:spPr>
          <a:xfrm>
            <a:off x="4900613" y="3270721"/>
            <a:ext cx="67866" cy="150019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&gt;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07244" y="4922713"/>
            <a:ext cx="99476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CI/CD Toolchain: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2144911" y="4939680"/>
            <a:ext cx="85010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GitHub Actions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280767" y="4929857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0363D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&gt;&gt;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702248" y="4939680"/>
            <a:ext cx="1396603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Docker Containerization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5384602" y="4929857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0363D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&gt;&gt;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806083" y="4939680"/>
            <a:ext cx="72866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0AE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Railway PaaS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35769"/>
            <a:ext cx="35147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Recommendations &amp; Next Steps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140178" y="576858"/>
            <a:ext cx="142517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SEC_09 // ACTION_PLAN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78644" y="1019770"/>
            <a:ext cx="3907631" cy="1425485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8644" y="1019770"/>
            <a:ext cx="3907631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7" name="Shape 4"/>
          <p:cNvSpPr/>
          <p:nvPr/>
        </p:nvSpPr>
        <p:spPr>
          <a:xfrm>
            <a:off x="4479131" y="1019770"/>
            <a:ext cx="7144" cy="142548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Shape 5"/>
          <p:cNvSpPr/>
          <p:nvPr/>
        </p:nvSpPr>
        <p:spPr>
          <a:xfrm>
            <a:off x="578644" y="2438112"/>
            <a:ext cx="3907631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Shape 6"/>
          <p:cNvSpPr/>
          <p:nvPr/>
        </p:nvSpPr>
        <p:spPr>
          <a:xfrm>
            <a:off x="578644" y="1019770"/>
            <a:ext cx="28575" cy="1425485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10" name="Text 7"/>
          <p:cNvSpPr/>
          <p:nvPr/>
        </p:nvSpPr>
        <p:spPr>
          <a:xfrm>
            <a:off x="750094" y="1191220"/>
            <a:ext cx="3564731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PRIORITY_01 // IMMEDIATE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50094" y="1407319"/>
            <a:ext cx="356473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Secure Secrets Management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0094" y="1710928"/>
            <a:ext cx="35647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Migrate EventsAir and Aviationstack credentials from plain-text database storage to a secure vault or encrypted environment variables before the event begins.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657725" y="1019770"/>
            <a:ext cx="3907631" cy="1425485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657725" y="1019770"/>
            <a:ext cx="3907631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5" name="Shape 12"/>
          <p:cNvSpPr/>
          <p:nvPr/>
        </p:nvSpPr>
        <p:spPr>
          <a:xfrm>
            <a:off x="8558213" y="1019770"/>
            <a:ext cx="7144" cy="142548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6" name="Shape 13"/>
          <p:cNvSpPr/>
          <p:nvPr/>
        </p:nvSpPr>
        <p:spPr>
          <a:xfrm>
            <a:off x="4657725" y="2438112"/>
            <a:ext cx="3907631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Shape 14"/>
          <p:cNvSpPr/>
          <p:nvPr/>
        </p:nvSpPr>
        <p:spPr>
          <a:xfrm>
            <a:off x="4657725" y="1019770"/>
            <a:ext cx="28575" cy="1425485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18" name="Text 15"/>
          <p:cNvSpPr/>
          <p:nvPr/>
        </p:nvSpPr>
        <p:spPr>
          <a:xfrm>
            <a:off x="4829175" y="1191220"/>
            <a:ext cx="3564731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PRIORITY_02 // PRE-EVENT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29175" y="1407319"/>
            <a:ext cx="356473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Simulated Load Testing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29175" y="1710928"/>
            <a:ext cx="35647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 load testing on the Production environment to ensure the single-instance architecture and Railway database can handle peak concurrent connections during arrival days.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78644" y="2602418"/>
            <a:ext cx="3907631" cy="1425485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78644" y="2602418"/>
            <a:ext cx="3907631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3" name="Shape 20"/>
          <p:cNvSpPr/>
          <p:nvPr/>
        </p:nvSpPr>
        <p:spPr>
          <a:xfrm>
            <a:off x="4479131" y="2602418"/>
            <a:ext cx="7144" cy="142548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Shape 21"/>
          <p:cNvSpPr/>
          <p:nvPr/>
        </p:nvSpPr>
        <p:spPr>
          <a:xfrm>
            <a:off x="578644" y="4020759"/>
            <a:ext cx="3907631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5" name="Shape 22"/>
          <p:cNvSpPr/>
          <p:nvPr/>
        </p:nvSpPr>
        <p:spPr>
          <a:xfrm>
            <a:off x="578644" y="2602418"/>
            <a:ext cx="28575" cy="1425485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26" name="Text 23"/>
          <p:cNvSpPr/>
          <p:nvPr/>
        </p:nvSpPr>
        <p:spPr>
          <a:xfrm>
            <a:off x="750094" y="2773868"/>
            <a:ext cx="3564731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PRIORITY_03 // POST-EVENT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50094" y="2989966"/>
            <a:ext cx="356473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Refactor Sync Service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50094" y="3293576"/>
            <a:ext cx="35647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Allocate development resources post-event to refactor the monolithic EventsAirSyncService into discrete, testable handlers to reduce technical debt and improve maintainability.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657725" y="2602418"/>
            <a:ext cx="3907631" cy="1425485"/>
          </a:xfrm>
          <a:prstGeom prst="rect">
            <a:avLst/>
          </a:prstGeom>
          <a:solidFill>
            <a:srgbClr val="0D1117">
              <a:alpha val="8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657725" y="2602418"/>
            <a:ext cx="3907631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1" name="Shape 28"/>
          <p:cNvSpPr/>
          <p:nvPr/>
        </p:nvSpPr>
        <p:spPr>
          <a:xfrm>
            <a:off x="8558213" y="2602418"/>
            <a:ext cx="7144" cy="142548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2" name="Shape 29"/>
          <p:cNvSpPr/>
          <p:nvPr/>
        </p:nvSpPr>
        <p:spPr>
          <a:xfrm>
            <a:off x="4657725" y="4020759"/>
            <a:ext cx="3907631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3" name="Shape 30"/>
          <p:cNvSpPr/>
          <p:nvPr/>
        </p:nvSpPr>
        <p:spPr>
          <a:xfrm>
            <a:off x="4657725" y="2602418"/>
            <a:ext cx="28575" cy="1425485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34" name="Text 31"/>
          <p:cNvSpPr/>
          <p:nvPr/>
        </p:nvSpPr>
        <p:spPr>
          <a:xfrm>
            <a:off x="4829175" y="2773868"/>
            <a:ext cx="3564731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FFCC"/>
                </a:solidFill>
                <a:latin typeface="Fira Code Bold" pitchFamily="34" charset="0"/>
                <a:ea typeface="Fira Code Bold" pitchFamily="34" charset="-122"/>
                <a:cs typeface="Fira Code Bold" pitchFamily="34" charset="-120"/>
              </a:rPr>
              <a:t>PRIORITY_04 // FUTURE_STATE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829175" y="2989966"/>
            <a:ext cx="356473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Redis Integration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829175" y="3293576"/>
            <a:ext cx="35647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the integration of Redis for distributed caching and SignalR backplane to unlock horizontal scalability for future Annual Meetings.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893094" y="4185065"/>
            <a:ext cx="30718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FF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exit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2026-06-09T05:08:53Z</dcterms:created>
  <dcterms:modified xsi:type="dcterms:W3CDTF">2026-06-09T05:08:53Z</dcterms:modified>
</cp:coreProperties>
</file>